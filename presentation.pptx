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645920"/>
            <a:ext cx="9445752" cy="384048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103120"/>
            <a:ext cx="8531352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5400" b="1" i="0">
                <a:solidFill>
                  <a:srgbClr val="00F2FE"/>
                </a:solidFill>
                <a:latin typeface="Trebuchet MS"/>
              </a:defRPr>
            </a:pPr>
            <a:r>
              <a:t>SupplierPulse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0"/>
            <a:ext cx="8531352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2000" b="0" i="0">
                <a:solidFill>
                  <a:srgbClr val="F3F4F6"/>
                </a:solidFill>
                <a:latin typeface="Trebuchet MS"/>
              </a:defRPr>
            </a:pPr>
            <a:r>
              <a:t>Live Vendor Risk &amp; Opportunity Intelligence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59352" cy="27432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114800"/>
            <a:ext cx="7616952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400" b="0" i="0">
                <a:solidFill>
                  <a:srgbClr val="9CA3AF"/>
                </a:solidFill>
                <a:latin typeface="Calibri"/>
              </a:defRPr>
            </a:pPr>
            <a:r>
              <a:t>A multi-agent telemetry orchestrator conducting real-time web scraping, signal classification, and alert automation for continuous supply chain visibility.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937760"/>
            <a:ext cx="8531352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100" b="1" i="0">
                <a:solidFill>
                  <a:srgbClr val="00F2FE"/>
                </a:solidFill>
                <a:latin typeface="Trebuchet MS"/>
              </a:defRPr>
            </a:pPr>
            <a:r>
              <a:t>Lablab.ai Hackathon Submission  |  Built with Gemini API &amp; Node.js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 i="0">
                <a:solidFill>
                  <a:srgbClr val="00F2FE"/>
                </a:solidFill>
                <a:latin typeface="Trebuchet MS"/>
              </a:defRPr>
            </a:pPr>
            <a:r>
              <a:t>SUPPLIERPULSE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 i="0">
                <a:solidFill>
                  <a:srgbClr val="F3F4F6"/>
                </a:solidFill>
                <a:latin typeface="Trebuchet MS"/>
              </a:defRPr>
            </a:pPr>
            <a:r>
              <a:t>The Vulnerability of Stale Vendor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374151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389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800" b="1" i="0">
                <a:solidFill>
                  <a:srgbClr val="FF4B5C"/>
                </a:solidFill>
                <a:latin typeface="Trebuchet MS"/>
              </a:defRPr>
            </a:pPr>
            <a:r>
              <a:t>The Legacy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38912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Static Assessments: Relies on stale yearly audits, self-reporting questionnaires, and credit bureau scores.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Blindspots: Incidents like layoffs, leadership changes, or security breaches go unnoticed for months.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Delayed Action: Inability to react before a supplier experiences complete operational failure or bankruptcy.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4206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389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800" b="1" i="0">
                <a:solidFill>
                  <a:srgbClr val="00F2FE"/>
                </a:solidFill>
                <a:latin typeface="Trebuchet MS"/>
              </a:defRPr>
            </a:pPr>
            <a:r>
              <a:t>Supply Chain Volatility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51760"/>
            <a:ext cx="438912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Rapid Shifts: Digital footprints and vendor risk indicators change in a matter of minutes.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Public Consensus Shift: Employee morale, customer complaints, and traffic dips precede financial failure.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Critical Threat: Modern enterprises face high dependencies on third-party APIs and suppliers.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 i="0">
                <a:solidFill>
                  <a:srgbClr val="00F2FE"/>
                </a:solidFill>
                <a:latin typeface="Trebuchet MS"/>
              </a:defRPr>
            </a:pPr>
            <a:r>
              <a:t>SUPPLIERPULSE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 i="0">
                <a:solidFill>
                  <a:srgbClr val="F3F4F6"/>
                </a:solidFill>
                <a:latin typeface="Trebuchet MS"/>
              </a:defRPr>
            </a:pPr>
            <a:r>
              <a:t>Continuous Live Risk Telemetry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206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669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000" b="1" i="0">
                <a:solidFill>
                  <a:srgbClr val="00F2FE"/>
                </a:solidFill>
                <a:latin typeface="Trebuchet MS"/>
              </a:defRPr>
            </a:pPr>
            <a:r>
              <a:t>SupplierPulse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560320"/>
            <a:ext cx="9966960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500" b="0" i="0">
                <a:solidFill>
                  <a:srgbClr val="F3F4F6"/>
                </a:solidFill>
                <a:latin typeface="Calibri"/>
              </a:defRPr>
            </a:pPr>
            <a:r>
              <a:t>SupplierPulse acts as a 24/7 web intelligence crawler that automatically maps and monitors your suppliers. By utilizing multi-agent coordination, it evaluates live text data to detect early warning indicators.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291840"/>
            <a:ext cx="3017520" cy="22860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3474720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500" b="1" i="0">
                <a:solidFill>
                  <a:srgbClr val="00F2FE"/>
                </a:solidFill>
                <a:latin typeface="Trebuchet MS"/>
              </a:defRPr>
            </a:pPr>
            <a:r>
              <a:t>1. Live Web Crawling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840480"/>
            <a:ext cx="265176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F3F4F6"/>
                </a:solidFill>
                <a:latin typeface="Calibri"/>
              </a:defRPr>
            </a:pPr>
            <a:r>
              <a:t>Scrapes 6 major digital vectors (Jobs, News, Filings, Reviews, Web, Social) using Search Grounding or Bright Data integration.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291840"/>
            <a:ext cx="3017520" cy="22860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474720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500" b="1" i="0">
                <a:solidFill>
                  <a:srgbClr val="00F2FE"/>
                </a:solidFill>
                <a:latin typeface="Trebuchet MS"/>
              </a:defRPr>
            </a:pPr>
            <a:r>
              <a:t>2. AI Signal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840480"/>
            <a:ext cx="265176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F3F4F6"/>
                </a:solidFill>
                <a:latin typeface="Calibri"/>
              </a:defRPr>
            </a:pPr>
            <a:r>
              <a:t>Classifies findings into 9 key signal categories, calculating severity and confidence indexes using AI agent inference.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3291840"/>
            <a:ext cx="3017520" cy="228600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3474720"/>
            <a:ext cx="26517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500" b="1" i="0">
                <a:solidFill>
                  <a:srgbClr val="00F2FE"/>
                </a:solidFill>
                <a:latin typeface="Trebuchet MS"/>
              </a:defRPr>
            </a:pPr>
            <a:r>
              <a:t>3. Direct Integrations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840480"/>
            <a:ext cx="2651760" cy="1463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F3F4F6"/>
                </a:solidFill>
                <a:latin typeface="Calibri"/>
              </a:defRPr>
            </a:pPr>
            <a:r>
              <a:t>Pushes summaries and alerts directly to Slack and Telegram channels on automated background monitoring cron cycles.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 i="0">
                <a:solidFill>
                  <a:srgbClr val="00F2FE"/>
                </a:solidFill>
                <a:latin typeface="Trebuchet MS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 i="0">
                <a:solidFill>
                  <a:srgbClr val="F3F4F6"/>
                </a:solidFill>
                <a:latin typeface="Trebuchet MS"/>
              </a:defRPr>
            </a:pPr>
            <a:r>
              <a:t>Multi-Agent Orchestration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560320" cy="4206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2194560" cy="36576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21945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200" b="1" i="0">
                <a:solidFill>
                  <a:srgbClr val="F3F4F6"/>
                </a:solidFill>
                <a:latin typeface="Trebuchet MS"/>
              </a:defRPr>
            </a:pPr>
            <a: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219456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500" b="1" i="0">
                <a:solidFill>
                  <a:srgbClr val="00F2FE"/>
                </a:solidFill>
                <a:latin typeface="Trebuchet MS"/>
              </a:defRPr>
            </a:pPr>
            <a:r>
              <a:t>Phase 1: Input Normalization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219456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F3F4F6"/>
                </a:solidFill>
                <a:latin typeface="Calibri"/>
              </a:defRPr>
            </a:pPr>
            <a:r>
              <a:t>Standardizes name variables and analyzes core industries (e.g. mapping 'Stripe' to Stripe, Inc.).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828800"/>
            <a:ext cx="2560320" cy="4206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611880" y="2011680"/>
            <a:ext cx="2194560" cy="36576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11880" y="2057400"/>
            <a:ext cx="21945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200" b="1" i="0">
                <a:solidFill>
                  <a:srgbClr val="F3F4F6"/>
                </a:solidFill>
                <a:latin typeface="Trebuchet MS"/>
              </a:defRPr>
            </a:pPr>
            <a:r>
              <a:t>STEP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560320"/>
            <a:ext cx="219456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500" b="1" i="0">
                <a:solidFill>
                  <a:srgbClr val="00F2FE"/>
                </a:solidFill>
                <a:latin typeface="Trebuchet MS"/>
              </a:defRPr>
            </a:pPr>
            <a:r>
              <a:t>Phase 2: Multi-Vector Scraping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3383280"/>
            <a:ext cx="219456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F3F4F6"/>
                </a:solidFill>
                <a:latin typeface="Calibri"/>
              </a:defRPr>
            </a:pPr>
            <a:r>
              <a:t>Triggers parallel ground-truth searches or API crawls for the target supplier name across web resources.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828800"/>
            <a:ext cx="2560320" cy="4206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2011680"/>
            <a:ext cx="2194560" cy="365760"/>
          </a:xfrm>
          <a:prstGeom prst="round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057400"/>
            <a:ext cx="21945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200" b="1" i="0">
                <a:solidFill>
                  <a:srgbClr val="F3F4F6"/>
                </a:solidFill>
                <a:latin typeface="Trebuchet MS"/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560320"/>
            <a:ext cx="219456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500" b="1" i="0">
                <a:solidFill>
                  <a:srgbClr val="00F2FE"/>
                </a:solidFill>
                <a:latin typeface="Trebuchet MS"/>
              </a:defRPr>
            </a:pPr>
            <a:r>
              <a:t>Phase 3: Telemetry Classification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383280"/>
            <a:ext cx="219456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F3F4F6"/>
                </a:solidFill>
                <a:latin typeface="Calibri"/>
              </a:defRPr>
            </a:pPr>
            <a:r>
              <a:t>AI models evaluate text blocks to score risks (severity, confidence) and extract key events.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828800"/>
            <a:ext cx="2560320" cy="4206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06840" y="2011680"/>
            <a:ext cx="2194560" cy="365760"/>
          </a:xfrm>
          <a:prstGeom prst="round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057400"/>
            <a:ext cx="219456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>
              <a:defRPr sz="1200" b="1" i="0">
                <a:solidFill>
                  <a:srgbClr val="F3F4F6"/>
                </a:solidFill>
                <a:latin typeface="Trebuchet MS"/>
              </a:defRPr>
            </a:pPr>
            <a:r>
              <a:t>STEP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560320"/>
            <a:ext cx="219456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500" b="1" i="0">
                <a:solidFill>
                  <a:srgbClr val="00F2FE"/>
                </a:solidFill>
                <a:latin typeface="Trebuchet MS"/>
              </a:defRPr>
            </a:pPr>
            <a:r>
              <a:t>Phase 4: Brief Synthesis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06840" y="3383280"/>
            <a:ext cx="2194560" cy="228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F3F4F6"/>
                </a:solidFill>
                <a:latin typeface="Calibri"/>
              </a:defRPr>
            </a:pPr>
            <a:r>
              <a:t>Compiles details into an executive summary, highlights key risks, and assigns a risk index (0-100).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 i="0">
                <a:solidFill>
                  <a:srgbClr val="00F2FE"/>
                </a:solidFill>
                <a:latin typeface="Trebuchet MS"/>
              </a:defRPr>
            </a:pPr>
            <a:r>
              <a:t>DATA VECTORS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 i="0">
                <a:solidFill>
                  <a:srgbClr val="F3F4F6"/>
                </a:solidFill>
                <a:latin typeface="Trebuchet MS"/>
              </a:defRPr>
            </a:pPr>
            <a:r>
              <a:t>The 6 Dimensions of Live Scraping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1920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834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600" b="1" i="0">
                <a:solidFill>
                  <a:srgbClr val="00F2FE"/>
                </a:solidFill>
                <a:latin typeface="Trebuchet MS"/>
              </a:defRPr>
            </a:pPr>
            <a:r>
              <a:t>💼  Jobs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68880"/>
            <a:ext cx="283464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F3F4F6"/>
                </a:solidFill>
                <a:latin typeface="Calibri"/>
              </a:defRPr>
            </a:pPr>
            <a:r>
              <a:t>Tracking hiring trends and layoffs to assess operational growth or cutbacks.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1920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2834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600" b="1" i="0">
                <a:solidFill>
                  <a:srgbClr val="00F2FE"/>
                </a:solidFill>
                <a:latin typeface="Trebuchet MS"/>
              </a:defRPr>
            </a:pPr>
            <a:r>
              <a:t>📰  News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83464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F3F4F6"/>
                </a:solidFill>
                <a:latin typeface="Calibri"/>
              </a:defRPr>
            </a:pPr>
            <a:r>
              <a:t>Scanning legal suits, funding rounds, regulatory compliance, and PR incidents.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828800"/>
            <a:ext cx="3383280" cy="1920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011680"/>
            <a:ext cx="2834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600" b="1" i="0">
                <a:solidFill>
                  <a:srgbClr val="00F2FE"/>
                </a:solidFill>
                <a:latin typeface="Trebuchet MS"/>
              </a:defRPr>
            </a:pPr>
            <a:r>
              <a:t>📁  Filings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468880"/>
            <a:ext cx="283464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F3F4F6"/>
                </a:solidFill>
                <a:latin typeface="Calibri"/>
              </a:defRPr>
            </a:pPr>
            <a:r>
              <a:t>Auditing official SEC regulatory reports (8-K, 10-Q) for corporate compliance.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383280" cy="1920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2834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600" b="1" i="0">
                <a:solidFill>
                  <a:srgbClr val="00F2FE"/>
                </a:solidFill>
                <a:latin typeface="Trebuchet MS"/>
              </a:defRPr>
            </a:pPr>
            <a:r>
              <a:t>⭐  Reviews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283464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F3F4F6"/>
                </a:solidFill>
                <a:latin typeface="Calibri"/>
              </a:defRPr>
            </a:pPr>
            <a:r>
              <a:t>Scraping employee reviews (Glassdoor) to evaluate internal leadership and culture.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023360"/>
            <a:ext cx="3383280" cy="1920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4206240"/>
            <a:ext cx="2834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600" b="1" i="0">
                <a:solidFill>
                  <a:srgbClr val="00F2FE"/>
                </a:solidFill>
                <a:latin typeface="Trebuchet MS"/>
              </a:defRPr>
            </a:pPr>
            <a:r>
              <a:t>🌐  Web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663440"/>
            <a:ext cx="283464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F3F4F6"/>
                </a:solidFill>
                <a:latin typeface="Calibri"/>
              </a:defRPr>
            </a:pPr>
            <a:r>
              <a:t>Evaluating website uptime, traffic metrics, and domain authority indicators.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023360"/>
            <a:ext cx="3383280" cy="1920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4206240"/>
            <a:ext cx="2834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600" b="1" i="0">
                <a:solidFill>
                  <a:srgbClr val="00F2FE"/>
                </a:solidFill>
                <a:latin typeface="Trebuchet MS"/>
              </a:defRPr>
            </a:pPr>
            <a:r>
              <a:t>💬  Social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663440"/>
            <a:ext cx="2834640" cy="10972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F3F4F6"/>
                </a:solidFill>
                <a:latin typeface="Calibri"/>
              </a:defRPr>
            </a:pPr>
            <a:r>
              <a:t>Parsing public consensus and outage reports on Reddit and X/Twitter.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 i="0">
                <a:solidFill>
                  <a:srgbClr val="00F2FE"/>
                </a:solidFill>
                <a:latin typeface="Trebuchet MS"/>
              </a:defRPr>
            </a:pPr>
            <a:r>
              <a:t>USER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 i="0">
                <a:solidFill>
                  <a:srgbClr val="F3F4F6"/>
                </a:solidFill>
                <a:latin typeface="Trebuchet MS"/>
              </a:defRPr>
            </a:pPr>
            <a:r>
              <a:t>Real-Time UI &amp; Alerting Integrations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389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800" b="1" i="0">
                <a:solidFill>
                  <a:srgbClr val="00F2FE"/>
                </a:solidFill>
                <a:latin typeface="Trebuchet MS"/>
              </a:defRPr>
            </a:pPr>
            <a:r>
              <a:t>Visual Risk Control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38912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SSE Progress Streaming: Watch the multi-agent crawler execute in real-time as it scans sources.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Interactive Briefing Card: Drill down into individual risk signals, categorized with severity and confidence.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Historical Archives: Track a supplier's risk score over time to detect negative trajectories early.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4206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389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800" b="1" i="0">
                <a:solidFill>
                  <a:srgbClr val="00F2FE"/>
                </a:solidFill>
                <a:latin typeface="Trebuchet MS"/>
              </a:defRPr>
            </a:pPr>
            <a:r>
              <a:t>Instant Incident Notifications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51760"/>
            <a:ext cx="438912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Slack Webhook: Richly-formatted briefs covering summaries and action plans directly inside Slack channels.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Telegram API: Instant alert notifications dispatched directly to telegram chat groups.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Chrono Moniter: Configure interval tasks (e.g. check vendor hourly/daily) to auto-trigger notifications.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 i="0">
                <a:solidFill>
                  <a:srgbClr val="00F2FE"/>
                </a:solidFill>
                <a:latin typeface="Trebuchet MS"/>
              </a:defRPr>
            </a:pPr>
            <a:r>
              <a:t>MARKET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 i="0">
                <a:solidFill>
                  <a:srgbClr val="F3F4F6"/>
                </a:solidFill>
                <a:latin typeface="Trebuchet MS"/>
              </a:defRPr>
            </a:pPr>
            <a:r>
              <a:t>Addressing a High-Growth Global Market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374151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3891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00" b="1" i="0">
                <a:solidFill>
                  <a:srgbClr val="00F2FE"/>
                </a:solidFill>
                <a:latin typeface="Trebuchet MS"/>
              </a:defRPr>
            </a:pPr>
            <a:r>
              <a:t>Total Addressable Market (TAM)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3600" b="1" i="0">
                <a:solidFill>
                  <a:srgbClr val="F3F4F6"/>
                </a:solidFill>
                <a:latin typeface="Trebuchet MS"/>
              </a:defRPr>
            </a:pPr>
            <a:r>
              <a:t>$16.8 Billion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43891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200" b="0" i="0">
                <a:solidFill>
                  <a:srgbClr val="9CA3AF"/>
                </a:solidFill>
                <a:latin typeface="Calibri"/>
              </a:defRPr>
            </a:pPr>
            <a:r>
              <a:t>Global market spend for Governance, Risk, and Compliance (GRC) software.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49039"/>
            <a:ext cx="438912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00" b="1" i="0">
                <a:solidFill>
                  <a:srgbClr val="FF4B5C"/>
                </a:solidFill>
                <a:latin typeface="Trebuchet MS"/>
              </a:defRPr>
            </a:pPr>
            <a:r>
              <a:t>Serviceable Addressable Market (SAM)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438912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3600" b="1" i="0">
                <a:solidFill>
                  <a:srgbClr val="F3F4F6"/>
                </a:solidFill>
                <a:latin typeface="Trebuchet MS"/>
              </a:defRPr>
            </a:pPr>
            <a:r>
              <a:t>$4.2 Billion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54880"/>
            <a:ext cx="438912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200" b="0" i="0">
                <a:solidFill>
                  <a:srgbClr val="9CA3AF"/>
                </a:solidFill>
                <a:latin typeface="Calibri"/>
              </a:defRPr>
            </a:pPr>
            <a:r>
              <a:t>Enterprise spend focused specifically on vendor, supplier, and third-party risk analysis.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828800"/>
            <a:ext cx="5120640" cy="4206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103120"/>
            <a:ext cx="4389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800" b="1" i="0">
                <a:solidFill>
                  <a:srgbClr val="00F2FE"/>
                </a:solidFill>
                <a:latin typeface="Trebuchet MS"/>
              </a:defRPr>
            </a:pPr>
            <a:r>
              <a:t>Target Customer Archetypes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51760"/>
            <a:ext cx="438912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Procurement Teams: Organizations managing large physical and digital supply chains.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Risk &amp; Compliance Officers: Financial and corporate entities requiring strict vendor vetting for regulatory audits.</a:t>
            </a:r>
          </a:p>
          <a:p>
            <a:pPr>
              <a:spcAft>
                <a:spcPts val="1200"/>
              </a:spcAft>
              <a:defRPr sz="1400">
                <a:solidFill>
                  <a:srgbClr val="F3F4F6"/>
                </a:solidFill>
                <a:latin typeface="Calibri"/>
              </a:defRPr>
            </a:pPr>
            <a:r>
              <a:t>IT Security Leaders (CISOs): Technology teams seeking to track third-party SaaS outage history and security leaks.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 i="0">
                <a:solidFill>
                  <a:srgbClr val="00F2FE"/>
                </a:solidFill>
                <a:latin typeface="Trebuchet MS"/>
              </a:defRPr>
            </a:pPr>
            <a: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 i="0">
                <a:solidFill>
                  <a:srgbClr val="F3F4F6"/>
                </a:solidFill>
                <a:latin typeface="Trebuchet MS"/>
              </a:defRPr>
            </a:pPr>
            <a:r>
              <a:t>Monetization &amp; Commercial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206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2834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800" b="1" i="0">
                <a:solidFill>
                  <a:srgbClr val="00F2FE"/>
                </a:solidFill>
                <a:latin typeface="Trebuchet MS"/>
              </a:defRPr>
            </a:pPr>
            <a:r>
              <a:t>💻  SaaS Subscriptions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2743200"/>
            <a:ext cx="2834640" cy="18288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017520"/>
            <a:ext cx="2834640" cy="2651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00" b="0" i="0">
                <a:solidFill>
                  <a:srgbClr val="F3F4F6"/>
                </a:solidFill>
                <a:latin typeface="Calibri"/>
              </a:defRPr>
            </a:pPr>
            <a:r>
              <a:t>Tiered licensing packages (Professional, Enterprise) based on the number of active monitored vendor profiles.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4206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011680"/>
            <a:ext cx="2834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800" b="1" i="0">
                <a:solidFill>
                  <a:srgbClr val="00F2FE"/>
                </a:solidFill>
                <a:latin typeface="Trebuchet MS"/>
              </a:defRPr>
            </a:pPr>
            <a:r>
              <a:t>🔌  API-as-a-Service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2743200"/>
            <a:ext cx="2834640" cy="18288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2834640" cy="2651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00" b="0" i="0">
                <a:solidFill>
                  <a:srgbClr val="F3F4F6"/>
                </a:solidFill>
                <a:latin typeface="Calibri"/>
              </a:defRPr>
            </a:pPr>
            <a:r>
              <a:t>Usage-based billing allowing corporate customers to inject live risk scores directly into existing ERP and CRM software.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4206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011680"/>
            <a:ext cx="283464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800" b="1" i="0">
                <a:solidFill>
                  <a:srgbClr val="00F2FE"/>
                </a:solidFill>
                <a:latin typeface="Trebuchet MS"/>
              </a:defRPr>
            </a:pPr>
            <a:r>
              <a:t>🛠️  Custom Integrations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743200"/>
            <a:ext cx="2834640" cy="18288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017520"/>
            <a:ext cx="2834640" cy="2651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00" b="0" i="0">
                <a:solidFill>
                  <a:srgbClr val="F3F4F6"/>
                </a:solidFill>
                <a:latin typeface="Calibri"/>
              </a:defRPr>
            </a:pPr>
            <a:r>
              <a:t>Service packages for setting up proprietary monitoring systems, dedicated databases, and high-frequency webhook pipelines.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 i="0">
                <a:solidFill>
                  <a:srgbClr val="00F2FE"/>
                </a:solidFill>
                <a:latin typeface="Trebuchet MS"/>
              </a:defRPr>
            </a:pPr>
            <a:r>
              <a:t>COMPETITIVE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 i="0">
                <a:solidFill>
                  <a:srgbClr val="F3F4F6"/>
                </a:solidFill>
                <a:latin typeface="Trebuchet MS"/>
              </a:defRPr>
            </a:pPr>
            <a:r>
              <a:t>The SupplierPulse Advantage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0698480" cy="4206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996696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000" b="1" i="0">
                <a:solidFill>
                  <a:srgbClr val="00F2FE"/>
                </a:solidFill>
                <a:latin typeface="Trebuchet MS"/>
              </a:defRPr>
            </a:pPr>
            <a:r>
              <a:t>Comparing Vendor Vetting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27432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500" b="1" i="0">
                <a:solidFill>
                  <a:srgbClr val="9CA3AF"/>
                </a:solidFill>
                <a:latin typeface="Trebuchet MS"/>
              </a:defRPr>
            </a:pPr>
            <a:r>
              <a:t>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651760"/>
            <a:ext cx="3200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500" b="1" i="0">
                <a:solidFill>
                  <a:srgbClr val="FF4B5C"/>
                </a:solidFill>
                <a:latin typeface="Trebuchet MS"/>
              </a:defRPr>
            </a:pPr>
            <a:r>
              <a:t>Legacy Credit Bureaus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651760"/>
            <a:ext cx="32004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500" b="1" i="0">
                <a:solidFill>
                  <a:srgbClr val="00F2FE"/>
                </a:solidFill>
                <a:latin typeface="Trebuchet MS"/>
              </a:defRPr>
            </a:pPr>
            <a:r>
              <a:t>SupplierPulse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3154680"/>
            <a:ext cx="996696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00400"/>
            <a:ext cx="27432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1" i="0">
                <a:solidFill>
                  <a:srgbClr val="F3F4F6"/>
                </a:solidFill>
                <a:latin typeface="Calibri"/>
              </a:defRPr>
            </a:pPr>
            <a:r>
              <a:t>Analysis Frequency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00400"/>
            <a:ext cx="32004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9CA3AF"/>
                </a:solidFill>
                <a:latin typeface="Calibri"/>
              </a:defRPr>
            </a:pPr>
            <a:r>
              <a:t>Annual or monthly updates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200400"/>
            <a:ext cx="32004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F3F4F6"/>
                </a:solidFill>
                <a:latin typeface="Calibri"/>
              </a:defRPr>
            </a:pPr>
            <a:r>
              <a:t>Continuous real-time web crawlers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794760"/>
            <a:ext cx="996696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840480"/>
            <a:ext cx="27432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1" i="0">
                <a:solidFill>
                  <a:srgbClr val="F3F4F6"/>
                </a:solidFill>
                <a:latin typeface="Calibri"/>
              </a:defRPr>
            </a:pPr>
            <a:r>
              <a:t>Signal Scopes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840480"/>
            <a:ext cx="32004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9CA3AF"/>
                </a:solidFill>
                <a:latin typeface="Calibri"/>
              </a:defRPr>
            </a:pPr>
            <a:r>
              <a:t>Financial spreadsheets &amp; credit scores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840480"/>
            <a:ext cx="32004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F3F4F6"/>
                </a:solidFill>
                <a:latin typeface="Calibri"/>
              </a:defRPr>
            </a:pPr>
            <a:r>
              <a:t>6 vectors (Jobs, News, Social sentiment, etc.)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434840"/>
            <a:ext cx="996696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480560"/>
            <a:ext cx="27432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1" i="0">
                <a:solidFill>
                  <a:srgbClr val="F3F4F6"/>
                </a:solidFill>
                <a:latin typeface="Calibri"/>
              </a:defRPr>
            </a:pPr>
            <a:r>
              <a:t>Notification Loop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480560"/>
            <a:ext cx="32004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9CA3AF"/>
                </a:solidFill>
                <a:latin typeface="Calibri"/>
              </a:defRPr>
            </a:pPr>
            <a:r>
              <a:t>Manual dashboard logins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4480560"/>
            <a:ext cx="32004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F3F4F6"/>
                </a:solidFill>
                <a:latin typeface="Calibri"/>
              </a:defRPr>
            </a:pPr>
            <a:r>
              <a:t>Automated Slack &amp; Telegram alerts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5074920"/>
            <a:ext cx="9966960" cy="9144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120640"/>
            <a:ext cx="27432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1" i="0">
                <a:solidFill>
                  <a:srgbClr val="F3F4F6"/>
                </a:solidFill>
                <a:latin typeface="Calibri"/>
              </a:defRPr>
            </a:pPr>
            <a:r>
              <a:t>Risk Response Speed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120640"/>
            <a:ext cx="32004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9CA3AF"/>
                </a:solidFill>
                <a:latin typeface="Calibri"/>
              </a:defRPr>
            </a:pPr>
            <a:r>
              <a:t>Weeks to update database after bankruptcy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5120640"/>
            <a:ext cx="3200400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300" b="0" i="0">
                <a:solidFill>
                  <a:srgbClr val="F3F4F6"/>
                </a:solidFill>
                <a:latin typeface="Calibri"/>
              </a:defRPr>
            </a:pPr>
            <a:r>
              <a:t>Identifies sentiment shifts in minutes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 i="0">
                <a:solidFill>
                  <a:srgbClr val="00F2FE"/>
                </a:solidFill>
                <a:latin typeface="Trebuchet MS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 i="0">
                <a:solidFill>
                  <a:srgbClr val="F3F4F6"/>
                </a:solidFill>
                <a:latin typeface="Trebuchet MS"/>
              </a:defRPr>
            </a:pPr>
            <a:r>
              <a:t>Future Outlook &amp; Scalability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206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83464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700" b="1" i="0">
                <a:solidFill>
                  <a:srgbClr val="00F2FE"/>
                </a:solidFill>
                <a:latin typeface="Trebuchet MS"/>
              </a:defRPr>
            </a:pPr>
            <a:r>
              <a:t>📈  Predictive Risk Index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3017520"/>
            <a:ext cx="2834640" cy="18288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2834640" cy="23774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00" b="0" i="0">
                <a:solidFill>
                  <a:srgbClr val="F3F4F6"/>
                </a:solidFill>
                <a:latin typeface="Calibri"/>
              </a:defRPr>
            </a:pPr>
            <a:r>
              <a:t>Incorporate ML models to forecast supply disruptions by looking at correlated signals across similar vendors.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4206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194560"/>
            <a:ext cx="283464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700" b="1" i="0">
                <a:solidFill>
                  <a:srgbClr val="00F2FE"/>
                </a:solidFill>
                <a:latin typeface="Trebuchet MS"/>
              </a:defRPr>
            </a:pPr>
            <a:r>
              <a:t>🔌  ERP Integration Plugins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017520"/>
            <a:ext cx="2834640" cy="18288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291840"/>
            <a:ext cx="2834640" cy="23774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00" b="0" i="0">
                <a:solidFill>
                  <a:srgbClr val="F3F4F6"/>
                </a:solidFill>
                <a:latin typeface="Calibri"/>
              </a:defRPr>
            </a:pPr>
            <a:r>
              <a:t>Develop plug-and-play modules for SAP Ariba, Workday, and Salesforce for automatic vendor lockouts on high risk alerts.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383280" cy="4206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94560"/>
            <a:ext cx="283464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700" b="1" i="0">
                <a:solidFill>
                  <a:srgbClr val="00F2FE"/>
                </a:solidFill>
                <a:latin typeface="Trebuchet MS"/>
              </a:defRPr>
            </a:pPr>
            <a:r>
              <a:t>💬  AI Conversational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3017520"/>
            <a:ext cx="2834640" cy="18288"/>
          </a:xfrm>
          <a:prstGeom prst="rect">
            <a:avLst/>
          </a:prstGeom>
          <a:solidFill>
            <a:srgbClr val="FF4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291840"/>
            <a:ext cx="2834640" cy="23774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400" b="0" i="0">
                <a:solidFill>
                  <a:srgbClr val="F3F4F6"/>
                </a:solidFill>
                <a:latin typeface="Calibri"/>
              </a:defRPr>
            </a:pPr>
            <a:r>
              <a:t>Build a natural language procurement assistant enabling teams to query 'Summarize Stripe's latest compliance risk'.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100" b="1" i="0">
                <a:solidFill>
                  <a:srgbClr val="00F2FE"/>
                </a:solidFill>
                <a:latin typeface="Trebuchet MS"/>
              </a:defRPr>
            </a:pPr>
            <a:r>
              <a:t>HACKATHON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5156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2800" b="1" i="0">
                <a:solidFill>
                  <a:srgbClr val="F3F4F6"/>
                </a:solidFill>
                <a:latin typeface="Trebuchet MS"/>
              </a:defRPr>
            </a:pPr>
            <a:r>
              <a:t>Project Submission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698480" cy="18288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20640" cy="4206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4389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800" b="1" i="0">
                <a:solidFill>
                  <a:srgbClr val="00F2FE"/>
                </a:solidFill>
                <a:latin typeface="Trebuchet MS"/>
              </a:defRPr>
            </a:pPr>
            <a:r>
              <a:t>Project Metadata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438912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  <a:latin typeface="Calibri"/>
              </a:defRPr>
            </a:pPr>
            <a:r>
              <a:t>Project Title: SupplierPulse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  <a:latin typeface="Calibri"/>
              </a:defRPr>
            </a:pPr>
            <a:r>
              <a:t>Short Description: Live Vendor Risk &amp; Opportunity Intelligence Agent offering real-time scraping, classification, and analysis.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  <a:latin typeface="Calibri"/>
              </a:defRPr>
            </a:pPr>
            <a:r>
              <a:t>Primary Categories: Multi-Agent Systems, Web Scraping, Risk Mitigation, Operations Automation.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  <a:latin typeface="Calibri"/>
              </a:defRPr>
            </a:pPr>
            <a:r>
              <a:t>Core Tech Stack: Node.js, Express, Vite, React, TypeScript, Gemini API (Search Grounding), Bright Data API, Slack &amp; Telegram APIs.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828800"/>
            <a:ext cx="5120640" cy="4206240"/>
          </a:xfrm>
          <a:prstGeom prst="roundRect">
            <a:avLst/>
          </a:prstGeom>
          <a:solidFill>
            <a:srgbClr val="1F2937"/>
          </a:solidFill>
          <a:ln w="1905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103120"/>
            <a:ext cx="438912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1800" b="1" i="0">
                <a:solidFill>
                  <a:srgbClr val="00F2FE"/>
                </a:solidFill>
                <a:latin typeface="Trebuchet MS"/>
              </a:defRPr>
            </a:pPr>
            <a:r>
              <a:t>Deliverables &amp; Links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51760"/>
            <a:ext cx="4389120" cy="2926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  <a:latin typeface="Calibri"/>
              </a:defRPr>
            </a:pPr>
            <a:r>
              <a:t>✔ Public GitHub Repository: Fully formatted and commented source code.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  <a:latin typeface="Calibri"/>
              </a:defRPr>
            </a:pPr>
            <a:r>
              <a:t>✔ Live Demo Application: Hosted Express/Vite prototype on web servers.</a:t>
            </a:r>
          </a:p>
          <a:p>
            <a:pPr>
              <a:spcAft>
                <a:spcPts val="1200"/>
              </a:spcAft>
              <a:defRPr sz="1300">
                <a:solidFill>
                  <a:srgbClr val="F3F4F6"/>
                </a:solidFill>
                <a:latin typeface="Calibri"/>
              </a:defRPr>
            </a:pPr>
            <a:r>
              <a:t>✔ Presentation Slides: Programmatically compiled PowerPoint and PDF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